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4" r:id="rId2"/>
    <p:sldId id="256" r:id="rId3"/>
    <p:sldId id="257" r:id="rId4"/>
    <p:sldId id="258" r:id="rId5"/>
    <p:sldId id="259" r:id="rId6"/>
    <p:sldId id="261" r:id="rId7"/>
    <p:sldId id="260" r:id="rId8"/>
    <p:sldId id="262" r:id="rId9"/>
    <p:sldId id="263" r:id="rId10"/>
    <p:sldId id="264" r:id="rId11"/>
    <p:sldId id="265" r:id="rId12"/>
    <p:sldId id="272" r:id="rId13"/>
    <p:sldId id="267" r:id="rId14"/>
    <p:sldId id="271" r:id="rId15"/>
    <p:sldId id="269" r:id="rId16"/>
    <p:sldId id="268" r:id="rId17"/>
    <p:sldId id="270"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353" autoAdjust="0"/>
  </p:normalViewPr>
  <p:slideViewPr>
    <p:cSldViewPr snapToGrid="0">
      <p:cViewPr varScale="1">
        <p:scale>
          <a:sx n="68" d="100"/>
          <a:sy n="68" d="100"/>
        </p:scale>
        <p:origin x="12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30ABBD-3C32-42F1-9CAF-983C4BE0028E}" type="datetimeFigureOut">
              <a:rPr lang="en-US" smtClean="0"/>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B3A0C-D451-48F2-9233-B0BC11E987C5}" type="slidenum">
              <a:rPr lang="en-US" smtClean="0"/>
              <a:t>‹#›</a:t>
            </a:fld>
            <a:endParaRPr lang="en-US"/>
          </a:p>
        </p:txBody>
      </p:sp>
    </p:spTree>
    <p:extLst>
      <p:ext uri="{BB962C8B-B14F-4D97-AF65-F5344CB8AC3E}">
        <p14:creationId xmlns:p14="http://schemas.microsoft.com/office/powerpoint/2010/main" val="2331500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Traces showing most of the genotypes, I went ahead and left off the elegans wild type and the P allele from atratus because I didn’t see us including either of those. </a:t>
            </a:r>
          </a:p>
        </p:txBody>
      </p:sp>
      <p:sp>
        <p:nvSpPr>
          <p:cNvPr id="4" name="Slide Number Placeholder 3"/>
          <p:cNvSpPr>
            <a:spLocks noGrp="1"/>
          </p:cNvSpPr>
          <p:nvPr>
            <p:ph type="sldNum" sz="quarter" idx="5"/>
          </p:nvPr>
        </p:nvSpPr>
        <p:spPr/>
        <p:txBody>
          <a:bodyPr/>
          <a:lstStyle/>
          <a:p>
            <a:fld id="{F7EB3A0C-D451-48F2-9233-B0BC11E987C5}" type="slidenum">
              <a:rPr lang="en-US" smtClean="0"/>
              <a:t>3</a:t>
            </a:fld>
            <a:endParaRPr lang="en-US"/>
          </a:p>
        </p:txBody>
      </p:sp>
    </p:spTree>
    <p:extLst>
      <p:ext uri="{BB962C8B-B14F-4D97-AF65-F5344CB8AC3E}">
        <p14:creationId xmlns:p14="http://schemas.microsoft.com/office/powerpoint/2010/main" val="4040262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Subset of previous plot with just LVNV, WT sirtalis, and T (couchii)</a:t>
            </a:r>
          </a:p>
        </p:txBody>
      </p:sp>
      <p:sp>
        <p:nvSpPr>
          <p:cNvPr id="4" name="Slide Number Placeholder 3"/>
          <p:cNvSpPr>
            <a:spLocks noGrp="1"/>
          </p:cNvSpPr>
          <p:nvPr>
            <p:ph type="sldNum" sz="quarter" idx="5"/>
          </p:nvPr>
        </p:nvSpPr>
        <p:spPr/>
        <p:txBody>
          <a:bodyPr/>
          <a:lstStyle/>
          <a:p>
            <a:fld id="{F7EB3A0C-D451-48F2-9233-B0BC11E987C5}" type="slidenum">
              <a:rPr lang="en-US" smtClean="0"/>
              <a:t>4</a:t>
            </a:fld>
            <a:endParaRPr lang="en-US"/>
          </a:p>
        </p:txBody>
      </p:sp>
    </p:spTree>
    <p:extLst>
      <p:ext uri="{BB962C8B-B14F-4D97-AF65-F5344CB8AC3E}">
        <p14:creationId xmlns:p14="http://schemas.microsoft.com/office/powerpoint/2010/main" val="1034399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Subset of previous plot with just LVNV, WT sirtalis, EPN, and T (couchii)</a:t>
            </a:r>
          </a:p>
          <a:p>
            <a:endParaRPr lang="en-US" dirty="0"/>
          </a:p>
        </p:txBody>
      </p:sp>
      <p:sp>
        <p:nvSpPr>
          <p:cNvPr id="4" name="Slide Number Placeholder 3"/>
          <p:cNvSpPr>
            <a:spLocks noGrp="1"/>
          </p:cNvSpPr>
          <p:nvPr>
            <p:ph type="sldNum" sz="quarter" idx="5"/>
          </p:nvPr>
        </p:nvSpPr>
        <p:spPr/>
        <p:txBody>
          <a:bodyPr/>
          <a:lstStyle/>
          <a:p>
            <a:fld id="{F7EB3A0C-D451-48F2-9233-B0BC11E987C5}" type="slidenum">
              <a:rPr lang="en-US" smtClean="0"/>
              <a:t>5</a:t>
            </a:fld>
            <a:endParaRPr lang="en-US"/>
          </a:p>
        </p:txBody>
      </p:sp>
    </p:spTree>
    <p:extLst>
      <p:ext uri="{BB962C8B-B14F-4D97-AF65-F5344CB8AC3E}">
        <p14:creationId xmlns:p14="http://schemas.microsoft.com/office/powerpoint/2010/main" val="1482945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Subset of previous plot with just LVNV, WT sirtalis, WT </a:t>
            </a:r>
            <a:r>
              <a:rPr lang="en-US" dirty="0" err="1"/>
              <a:t>hammondii</a:t>
            </a:r>
            <a:r>
              <a:rPr lang="en-US" dirty="0"/>
              <a:t>, and T (couchii)</a:t>
            </a:r>
          </a:p>
        </p:txBody>
      </p:sp>
      <p:sp>
        <p:nvSpPr>
          <p:cNvPr id="4" name="Slide Number Placeholder 3"/>
          <p:cNvSpPr>
            <a:spLocks noGrp="1"/>
          </p:cNvSpPr>
          <p:nvPr>
            <p:ph type="sldNum" sz="quarter" idx="5"/>
          </p:nvPr>
        </p:nvSpPr>
        <p:spPr/>
        <p:txBody>
          <a:bodyPr/>
          <a:lstStyle/>
          <a:p>
            <a:fld id="{F7EB3A0C-D451-48F2-9233-B0BC11E987C5}" type="slidenum">
              <a:rPr lang="en-US" smtClean="0"/>
              <a:t>6</a:t>
            </a:fld>
            <a:endParaRPr lang="en-US"/>
          </a:p>
        </p:txBody>
      </p:sp>
    </p:spTree>
    <p:extLst>
      <p:ext uri="{BB962C8B-B14F-4D97-AF65-F5344CB8AC3E}">
        <p14:creationId xmlns:p14="http://schemas.microsoft.com/office/powerpoint/2010/main" val="3470461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Boxplots comparing summary statistics for the transient contraction performance curves for these 4 genotypes/species. Bars with asterisks indicate significant differences, number of asterisks indicates higher significance. Differences in significance between mine and bobby’s results are probably because of some </a:t>
            </a:r>
            <a:r>
              <a:rPr lang="en-US" dirty="0" err="1"/>
              <a:t>pseudoreplication</a:t>
            </a:r>
            <a:r>
              <a:rPr lang="en-US" dirty="0"/>
              <a:t> I think he did in his stats, I can explain tomorrow. In order, plots are Base force, Contraction amplitude, time from fastest increase to fastest decrease in force (one measurement of contraction speed), and the maximum rate of force generation during the contraction.</a:t>
            </a:r>
          </a:p>
        </p:txBody>
      </p:sp>
      <p:sp>
        <p:nvSpPr>
          <p:cNvPr id="4" name="Slide Number Placeholder 3"/>
          <p:cNvSpPr>
            <a:spLocks noGrp="1"/>
          </p:cNvSpPr>
          <p:nvPr>
            <p:ph type="sldNum" sz="quarter" idx="5"/>
          </p:nvPr>
        </p:nvSpPr>
        <p:spPr/>
        <p:txBody>
          <a:bodyPr/>
          <a:lstStyle/>
          <a:p>
            <a:fld id="{F7EB3A0C-D451-48F2-9233-B0BC11E987C5}" type="slidenum">
              <a:rPr lang="en-US" smtClean="0"/>
              <a:t>7</a:t>
            </a:fld>
            <a:endParaRPr lang="en-US"/>
          </a:p>
        </p:txBody>
      </p:sp>
    </p:spTree>
    <p:extLst>
      <p:ext uri="{BB962C8B-B14F-4D97-AF65-F5344CB8AC3E}">
        <p14:creationId xmlns:p14="http://schemas.microsoft.com/office/powerpoint/2010/main" val="2270780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 plots continued. In order, they are the minimum rate of force generation (aka fastest relaxation), time from max contraction to 50% relaxed, time to 10X contraction (onset), and time to maximum rate of force generation.</a:t>
            </a:r>
          </a:p>
        </p:txBody>
      </p:sp>
      <p:sp>
        <p:nvSpPr>
          <p:cNvPr id="4" name="Slide Number Placeholder 3"/>
          <p:cNvSpPr>
            <a:spLocks noGrp="1"/>
          </p:cNvSpPr>
          <p:nvPr>
            <p:ph type="sldNum" sz="quarter" idx="5"/>
          </p:nvPr>
        </p:nvSpPr>
        <p:spPr/>
        <p:txBody>
          <a:bodyPr/>
          <a:lstStyle/>
          <a:p>
            <a:fld id="{F7EB3A0C-D451-48F2-9233-B0BC11E987C5}" type="slidenum">
              <a:rPr lang="en-US" smtClean="0"/>
              <a:t>8</a:t>
            </a:fld>
            <a:endParaRPr lang="en-US"/>
          </a:p>
        </p:txBody>
      </p:sp>
    </p:spTree>
    <p:extLst>
      <p:ext uri="{BB962C8B-B14F-4D97-AF65-F5344CB8AC3E}">
        <p14:creationId xmlns:p14="http://schemas.microsoft.com/office/powerpoint/2010/main" val="3763234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 plots continued. In order, they are time to minimum rate of force change, time to maximum force/peak contraction, and time from 10% contraction to 50% relaxation. These are all the summary stats bobby included in his paper/work</a:t>
            </a:r>
          </a:p>
        </p:txBody>
      </p:sp>
      <p:sp>
        <p:nvSpPr>
          <p:cNvPr id="4" name="Slide Number Placeholder 3"/>
          <p:cNvSpPr>
            <a:spLocks noGrp="1"/>
          </p:cNvSpPr>
          <p:nvPr>
            <p:ph type="sldNum" sz="quarter" idx="5"/>
          </p:nvPr>
        </p:nvSpPr>
        <p:spPr/>
        <p:txBody>
          <a:bodyPr/>
          <a:lstStyle/>
          <a:p>
            <a:fld id="{F7EB3A0C-D451-48F2-9233-B0BC11E987C5}" type="slidenum">
              <a:rPr lang="en-US" smtClean="0"/>
              <a:t>9</a:t>
            </a:fld>
            <a:endParaRPr lang="en-US"/>
          </a:p>
        </p:txBody>
      </p:sp>
    </p:spTree>
    <p:extLst>
      <p:ext uri="{BB962C8B-B14F-4D97-AF65-F5344CB8AC3E}">
        <p14:creationId xmlns:p14="http://schemas.microsoft.com/office/powerpoint/2010/main" val="1639131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of all tetanic contractions from the species/genotypes I think we’re liable to actually use, with the outliers generally filtered out so it looks better than previous iterations have. I do have error bars for these but the plot is illegible with them all on here, just know I can add them to future iterations (and if there are any you’re specifically curious about just email me if you can before the meeting and I’ll make them.</a:t>
            </a:r>
          </a:p>
        </p:txBody>
      </p:sp>
      <p:sp>
        <p:nvSpPr>
          <p:cNvPr id="4" name="Slide Number Placeholder 3"/>
          <p:cNvSpPr>
            <a:spLocks noGrp="1"/>
          </p:cNvSpPr>
          <p:nvPr>
            <p:ph type="sldNum" sz="quarter" idx="5"/>
          </p:nvPr>
        </p:nvSpPr>
        <p:spPr/>
        <p:txBody>
          <a:bodyPr/>
          <a:lstStyle/>
          <a:p>
            <a:fld id="{F7EB3A0C-D451-48F2-9233-B0BC11E987C5}" type="slidenum">
              <a:rPr lang="en-US" smtClean="0"/>
              <a:t>11</a:t>
            </a:fld>
            <a:endParaRPr lang="en-US"/>
          </a:p>
        </p:txBody>
      </p:sp>
    </p:spTree>
    <p:extLst>
      <p:ext uri="{BB962C8B-B14F-4D97-AF65-F5344CB8AC3E}">
        <p14:creationId xmlns:p14="http://schemas.microsoft.com/office/powerpoint/2010/main" val="51207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Subset of </a:t>
            </a:r>
            <a:r>
              <a:rPr lang="en-US" dirty="0" err="1"/>
              <a:t>prev</a:t>
            </a:r>
            <a:r>
              <a:rPr lang="en-US" dirty="0"/>
              <a:t> plot with just LVNV, WT sirtalis, and T</a:t>
            </a:r>
          </a:p>
        </p:txBody>
      </p:sp>
      <p:sp>
        <p:nvSpPr>
          <p:cNvPr id="4" name="Slide Number Placeholder 3"/>
          <p:cNvSpPr>
            <a:spLocks noGrp="1"/>
          </p:cNvSpPr>
          <p:nvPr>
            <p:ph type="sldNum" sz="quarter" idx="5"/>
          </p:nvPr>
        </p:nvSpPr>
        <p:spPr/>
        <p:txBody>
          <a:bodyPr/>
          <a:lstStyle/>
          <a:p>
            <a:fld id="{F7EB3A0C-D451-48F2-9233-B0BC11E987C5}" type="slidenum">
              <a:rPr lang="en-US" smtClean="0"/>
              <a:t>12</a:t>
            </a:fld>
            <a:endParaRPr lang="en-US"/>
          </a:p>
        </p:txBody>
      </p:sp>
    </p:spTree>
    <p:extLst>
      <p:ext uri="{BB962C8B-B14F-4D97-AF65-F5344CB8AC3E}">
        <p14:creationId xmlns:p14="http://schemas.microsoft.com/office/powerpoint/2010/main" val="1708400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Subset of first plot with EPN, LVNV, T, and WT sirtalis</a:t>
            </a:r>
          </a:p>
        </p:txBody>
      </p:sp>
      <p:sp>
        <p:nvSpPr>
          <p:cNvPr id="4" name="Slide Number Placeholder 3"/>
          <p:cNvSpPr>
            <a:spLocks noGrp="1"/>
          </p:cNvSpPr>
          <p:nvPr>
            <p:ph type="sldNum" sz="quarter" idx="5"/>
          </p:nvPr>
        </p:nvSpPr>
        <p:spPr/>
        <p:txBody>
          <a:bodyPr/>
          <a:lstStyle/>
          <a:p>
            <a:fld id="{F7EB3A0C-D451-48F2-9233-B0BC11E987C5}" type="slidenum">
              <a:rPr lang="en-US" smtClean="0"/>
              <a:t>13</a:t>
            </a:fld>
            <a:endParaRPr lang="en-US"/>
          </a:p>
        </p:txBody>
      </p:sp>
    </p:spTree>
    <p:extLst>
      <p:ext uri="{BB962C8B-B14F-4D97-AF65-F5344CB8AC3E}">
        <p14:creationId xmlns:p14="http://schemas.microsoft.com/office/powerpoint/2010/main" val="2648103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version of the previous plot with LVNV, WT sirtalis, T, and WT </a:t>
            </a:r>
            <a:r>
              <a:rPr lang="en-US" dirty="0" err="1"/>
              <a:t>hammondii</a:t>
            </a:r>
            <a:endParaRPr lang="en-US" dirty="0"/>
          </a:p>
        </p:txBody>
      </p:sp>
      <p:sp>
        <p:nvSpPr>
          <p:cNvPr id="4" name="Slide Number Placeholder 3"/>
          <p:cNvSpPr>
            <a:spLocks noGrp="1"/>
          </p:cNvSpPr>
          <p:nvPr>
            <p:ph type="sldNum" sz="quarter" idx="5"/>
          </p:nvPr>
        </p:nvSpPr>
        <p:spPr/>
        <p:txBody>
          <a:bodyPr/>
          <a:lstStyle/>
          <a:p>
            <a:fld id="{F7EB3A0C-D451-48F2-9233-B0BC11E987C5}" type="slidenum">
              <a:rPr lang="en-US" smtClean="0"/>
              <a:t>14</a:t>
            </a:fld>
            <a:endParaRPr lang="en-US"/>
          </a:p>
        </p:txBody>
      </p:sp>
    </p:spTree>
    <p:extLst>
      <p:ext uri="{BB962C8B-B14F-4D97-AF65-F5344CB8AC3E}">
        <p14:creationId xmlns:p14="http://schemas.microsoft.com/office/powerpoint/2010/main" val="3654156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Boxplots comparing summary statistics for the tetanic contraction performance curves for these 4 genotypes/species. Bars with asterisks indicate significant differences, number of asterisks indicates higher significance. In order, plots are Base force, Contraction amplitude, time from fastest increase to fastest decrease in force (one measurement of contraction speed), and the difference in force during the maximum of the contraction vs at the end of the contraction (a measure of fatigue; bobby didn’t have this but I added it).</a:t>
            </a:r>
          </a:p>
        </p:txBody>
      </p:sp>
      <p:sp>
        <p:nvSpPr>
          <p:cNvPr id="4" name="Slide Number Placeholder 3"/>
          <p:cNvSpPr>
            <a:spLocks noGrp="1"/>
          </p:cNvSpPr>
          <p:nvPr>
            <p:ph type="sldNum" sz="quarter" idx="5"/>
          </p:nvPr>
        </p:nvSpPr>
        <p:spPr/>
        <p:txBody>
          <a:bodyPr/>
          <a:lstStyle/>
          <a:p>
            <a:fld id="{F7EB3A0C-D451-48F2-9233-B0BC11E987C5}" type="slidenum">
              <a:rPr lang="en-US" smtClean="0"/>
              <a:t>15</a:t>
            </a:fld>
            <a:endParaRPr lang="en-US"/>
          </a:p>
        </p:txBody>
      </p:sp>
    </p:spTree>
    <p:extLst>
      <p:ext uri="{BB962C8B-B14F-4D97-AF65-F5344CB8AC3E}">
        <p14:creationId xmlns:p14="http://schemas.microsoft.com/office/powerpoint/2010/main" val="1205898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 plots continued. In order, they are rate of maximum force generation/contraction, rate of minimum force generation/relaxation, force at end of contraction (the other one I added that bobby didn’t have), and time from maximum contraction to 50% relaxation</a:t>
            </a:r>
          </a:p>
        </p:txBody>
      </p:sp>
      <p:sp>
        <p:nvSpPr>
          <p:cNvPr id="4" name="Slide Number Placeholder 3"/>
          <p:cNvSpPr>
            <a:spLocks noGrp="1"/>
          </p:cNvSpPr>
          <p:nvPr>
            <p:ph type="sldNum" sz="quarter" idx="5"/>
          </p:nvPr>
        </p:nvSpPr>
        <p:spPr/>
        <p:txBody>
          <a:bodyPr/>
          <a:lstStyle/>
          <a:p>
            <a:fld id="{F7EB3A0C-D451-48F2-9233-B0BC11E987C5}" type="slidenum">
              <a:rPr lang="en-US" smtClean="0"/>
              <a:t>16</a:t>
            </a:fld>
            <a:endParaRPr lang="en-US"/>
          </a:p>
        </p:txBody>
      </p:sp>
    </p:spTree>
    <p:extLst>
      <p:ext uri="{BB962C8B-B14F-4D97-AF65-F5344CB8AC3E}">
        <p14:creationId xmlns:p14="http://schemas.microsoft.com/office/powerpoint/2010/main" val="3424254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 plots continued. In order, they are time to 10$ force generation (onset), time to maximum rate of force change, time to minimum rate of force change, and time from 10% contraction to 50% relaxation. These are all the summary stats bobby included in his paper/work</a:t>
            </a:r>
          </a:p>
        </p:txBody>
      </p:sp>
      <p:sp>
        <p:nvSpPr>
          <p:cNvPr id="4" name="Slide Number Placeholder 3"/>
          <p:cNvSpPr>
            <a:spLocks noGrp="1"/>
          </p:cNvSpPr>
          <p:nvPr>
            <p:ph type="sldNum" sz="quarter" idx="5"/>
          </p:nvPr>
        </p:nvSpPr>
        <p:spPr/>
        <p:txBody>
          <a:bodyPr/>
          <a:lstStyle/>
          <a:p>
            <a:fld id="{F7EB3A0C-D451-48F2-9233-B0BC11E987C5}" type="slidenum">
              <a:rPr lang="en-US" smtClean="0"/>
              <a:t>17</a:t>
            </a:fld>
            <a:endParaRPr lang="en-US"/>
          </a:p>
        </p:txBody>
      </p:sp>
    </p:spTree>
    <p:extLst>
      <p:ext uri="{BB962C8B-B14F-4D97-AF65-F5344CB8AC3E}">
        <p14:creationId xmlns:p14="http://schemas.microsoft.com/office/powerpoint/2010/main" val="237990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396CF-6BE7-0F1B-0554-098479E352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0F4CB1-6428-9FA1-8CAA-C66339EF89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1B632A-2F76-5879-5096-920F5B8AD81C}"/>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5" name="Footer Placeholder 4">
            <a:extLst>
              <a:ext uri="{FF2B5EF4-FFF2-40B4-BE49-F238E27FC236}">
                <a16:creationId xmlns:a16="http://schemas.microsoft.com/office/drawing/2014/main" id="{A15AA6D9-C60F-B369-25D8-2FC5E7416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A16956-B79D-1650-F089-922A316CE04A}"/>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1348662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38426-1088-6848-1AC7-6062BD317B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C044E9-258E-37E4-C730-040A19527E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51913-25C4-7D19-0507-DC9792DCDC11}"/>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5" name="Footer Placeholder 4">
            <a:extLst>
              <a:ext uri="{FF2B5EF4-FFF2-40B4-BE49-F238E27FC236}">
                <a16:creationId xmlns:a16="http://schemas.microsoft.com/office/drawing/2014/main" id="{855698A5-C854-1176-A194-27D78F3C2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2747A-05DF-8F1E-A7AB-B0CC91701254}"/>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382391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EF738-AD27-E046-2EFC-E3201C89DA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886AF3-3EAE-D2CE-8457-F32A99D999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7D63DA-663F-9EC3-446A-F00A094DD24C}"/>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5" name="Footer Placeholder 4">
            <a:extLst>
              <a:ext uri="{FF2B5EF4-FFF2-40B4-BE49-F238E27FC236}">
                <a16:creationId xmlns:a16="http://schemas.microsoft.com/office/drawing/2014/main" id="{0841A76F-D98A-DEA0-1E5A-8E68D72AD5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DB3A0-E15E-75A9-8D19-B82C2987ED35}"/>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829389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01BD-A52E-AEBE-1A78-9570099671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A43586-45C4-6428-C29F-19E1627B36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EB7931-49F0-FB86-D3EB-7E71F1DD6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EA431-B272-27F6-CC10-18D786B49884}"/>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6" name="Footer Placeholder 5">
            <a:extLst>
              <a:ext uri="{FF2B5EF4-FFF2-40B4-BE49-F238E27FC236}">
                <a16:creationId xmlns:a16="http://schemas.microsoft.com/office/drawing/2014/main" id="{AD552B2F-5E89-B968-F80E-71FC04DE6F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11CE6B-E551-0D34-2577-D83C276DF208}"/>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4258085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16212-ED38-64DD-40B8-2F2C2A91B9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D89E19-A5BB-CDF9-C31D-060493FF0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E2EE80-FD00-1524-1B02-8EF96E79AD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F38DA9-30DE-86C0-A3DB-72656392C4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1FFAF-9F40-432A-1F91-2765637F78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6A66BE-F94D-78A1-03DE-5AA6AC99ADAC}"/>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8" name="Footer Placeholder 7">
            <a:extLst>
              <a:ext uri="{FF2B5EF4-FFF2-40B4-BE49-F238E27FC236}">
                <a16:creationId xmlns:a16="http://schemas.microsoft.com/office/drawing/2014/main" id="{430254F5-5FE2-51A1-74FD-4525F25E1F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16A3E5-A5A9-0630-DD28-42C5245D1A05}"/>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308457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D45A-C94B-DCFC-A3D2-CF59127980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BCD39-5423-A115-AB11-29AF10443659}"/>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4" name="Footer Placeholder 3">
            <a:extLst>
              <a:ext uri="{FF2B5EF4-FFF2-40B4-BE49-F238E27FC236}">
                <a16:creationId xmlns:a16="http://schemas.microsoft.com/office/drawing/2014/main" id="{BFAF021B-9DC3-DD3D-4083-A43E2641DC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0DDF05-A12F-E160-9AC2-17984569DE4A}"/>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175971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73AF3C-FE14-3E7D-9796-D9DFF9C2F18A}"/>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3" name="Footer Placeholder 2">
            <a:extLst>
              <a:ext uri="{FF2B5EF4-FFF2-40B4-BE49-F238E27FC236}">
                <a16:creationId xmlns:a16="http://schemas.microsoft.com/office/drawing/2014/main" id="{E0CBEBC6-A5B0-3792-896F-5FAA2A90E0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3E07A7-09D4-BA13-4702-0B1BCE78407B}"/>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3230401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3FE0F-8AC8-096F-5CF3-03D9D94CDF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D4724E-8A90-60AE-7D7C-654D5B10E9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E906B0-1F3C-A57D-DC68-129A19B276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049E8A-8356-0CCA-1381-CE5B236DE4DB}"/>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6" name="Footer Placeholder 5">
            <a:extLst>
              <a:ext uri="{FF2B5EF4-FFF2-40B4-BE49-F238E27FC236}">
                <a16:creationId xmlns:a16="http://schemas.microsoft.com/office/drawing/2014/main" id="{DA3EFB72-ABBF-B949-9E72-A5291CC25E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8196D5-683A-6F74-D3D5-1ED0569B0A49}"/>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4068104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FD10E-D5F0-D27A-21AA-FC6F9BC8E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A28A05-D355-931E-F4D2-79C12DCC58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F43E0F-E484-18DD-53AD-ECFA5E0E1A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6ABCF1-9D6A-CDB0-8161-DF59ADD1B365}"/>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6" name="Footer Placeholder 5">
            <a:extLst>
              <a:ext uri="{FF2B5EF4-FFF2-40B4-BE49-F238E27FC236}">
                <a16:creationId xmlns:a16="http://schemas.microsoft.com/office/drawing/2014/main" id="{2FEB84C0-76C5-BEFA-6636-682951D8E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CEB76C-5AA4-ED69-6169-B684A77042F8}"/>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788620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AF87-E64B-4ADE-E99C-34679177B0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248E52-C12C-2C72-39E9-AE27A014A0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48B65A-CEF5-D25C-5358-7F0DCEC1594E}"/>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5" name="Footer Placeholder 4">
            <a:extLst>
              <a:ext uri="{FF2B5EF4-FFF2-40B4-BE49-F238E27FC236}">
                <a16:creationId xmlns:a16="http://schemas.microsoft.com/office/drawing/2014/main" id="{2638E14A-34C3-5A75-5EA0-1EF024DA56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22A46-7F35-99F7-AE5D-D9D1E1BFBF9B}"/>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1885001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A935FF-6745-942C-30EA-78CFEB26F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F0BB98-64F7-95A1-3F34-A26B96F31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1FF49A-3708-D2EF-2135-8A596A641FCF}"/>
              </a:ext>
            </a:extLst>
          </p:cNvPr>
          <p:cNvSpPr>
            <a:spLocks noGrp="1"/>
          </p:cNvSpPr>
          <p:nvPr>
            <p:ph type="dt" sz="half" idx="10"/>
          </p:nvPr>
        </p:nvSpPr>
        <p:spPr/>
        <p:txBody>
          <a:bodyPr/>
          <a:lstStyle/>
          <a:p>
            <a:fld id="{8D0B3E90-267C-48FC-B90C-EF83BC81CA30}" type="datetimeFigureOut">
              <a:rPr lang="en-US" smtClean="0"/>
              <a:t>6/7/2026</a:t>
            </a:fld>
            <a:endParaRPr lang="en-US"/>
          </a:p>
        </p:txBody>
      </p:sp>
      <p:sp>
        <p:nvSpPr>
          <p:cNvPr id="5" name="Footer Placeholder 4">
            <a:extLst>
              <a:ext uri="{FF2B5EF4-FFF2-40B4-BE49-F238E27FC236}">
                <a16:creationId xmlns:a16="http://schemas.microsoft.com/office/drawing/2014/main" id="{E58E8FBA-E9BD-56EC-4D9D-BAAD0D2DA4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9DFDDC-9100-114E-4896-88133DD426A3}"/>
              </a:ext>
            </a:extLst>
          </p:cNvPr>
          <p:cNvSpPr>
            <a:spLocks noGrp="1"/>
          </p:cNvSpPr>
          <p:nvPr>
            <p:ph type="sldNum" sz="quarter" idx="12"/>
          </p:nvPr>
        </p:nvSpPr>
        <p:spPr/>
        <p:txBody>
          <a:bodyPr/>
          <a:lstStyle/>
          <a:p>
            <a:fld id="{F0AA4221-6EFB-44C2-9AC6-35577B706D2F}" type="slidenum">
              <a:rPr lang="en-US" smtClean="0"/>
              <a:t>‹#›</a:t>
            </a:fld>
            <a:endParaRPr lang="en-US"/>
          </a:p>
        </p:txBody>
      </p:sp>
    </p:spTree>
    <p:extLst>
      <p:ext uri="{BB962C8B-B14F-4D97-AF65-F5344CB8AC3E}">
        <p14:creationId xmlns:p14="http://schemas.microsoft.com/office/powerpoint/2010/main" val="2934854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98685C-4AB3-0A31-02BF-05501FB2AD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E0EBC2-7A2A-F329-5F03-5DA6196625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643830-9188-6E4A-8ABB-2E535D8C6F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0B3E90-267C-48FC-B90C-EF83BC81CA30}" type="datetimeFigureOut">
              <a:rPr lang="en-US" smtClean="0"/>
              <a:t>6/7/2026</a:t>
            </a:fld>
            <a:endParaRPr lang="en-US"/>
          </a:p>
        </p:txBody>
      </p:sp>
      <p:sp>
        <p:nvSpPr>
          <p:cNvPr id="5" name="Footer Placeholder 4">
            <a:extLst>
              <a:ext uri="{FF2B5EF4-FFF2-40B4-BE49-F238E27FC236}">
                <a16:creationId xmlns:a16="http://schemas.microsoft.com/office/drawing/2014/main" id="{FCE165DF-97EC-3CE6-E9E6-65C91782AB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54E4DC7-9D43-C256-91A1-37A3B530AC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AA4221-6EFB-44C2-9AC6-35577B706D2F}" type="slidenum">
              <a:rPr lang="en-US" smtClean="0"/>
              <a:t>‹#›</a:t>
            </a:fld>
            <a:endParaRPr lang="en-US"/>
          </a:p>
        </p:txBody>
      </p:sp>
    </p:spTree>
    <p:extLst>
      <p:ext uri="{BB962C8B-B14F-4D97-AF65-F5344CB8AC3E}">
        <p14:creationId xmlns:p14="http://schemas.microsoft.com/office/powerpoint/2010/main" val="1555864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BFD8-433E-D296-25C5-E8D62B51601E}"/>
              </a:ext>
            </a:extLst>
          </p:cNvPr>
          <p:cNvSpPr>
            <a:spLocks noGrp="1"/>
          </p:cNvSpPr>
          <p:nvPr>
            <p:ph type="ctrTitle"/>
          </p:nvPr>
        </p:nvSpPr>
        <p:spPr/>
        <p:txBody>
          <a:bodyPr/>
          <a:lstStyle/>
          <a:p>
            <a:r>
              <a:rPr lang="en-US" dirty="0"/>
              <a:t>Draft plots for myography trade-off work</a:t>
            </a:r>
          </a:p>
        </p:txBody>
      </p:sp>
      <p:sp>
        <p:nvSpPr>
          <p:cNvPr id="3" name="Subtitle 2">
            <a:extLst>
              <a:ext uri="{FF2B5EF4-FFF2-40B4-BE49-F238E27FC236}">
                <a16:creationId xmlns:a16="http://schemas.microsoft.com/office/drawing/2014/main" id="{F0A3D067-62C5-EF7D-602D-EDCAA46A1E1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78038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B4873F-15A7-243F-3F5E-1339E0076EF6}"/>
              </a:ext>
            </a:extLst>
          </p:cNvPr>
          <p:cNvSpPr>
            <a:spLocks noGrp="1"/>
          </p:cNvSpPr>
          <p:nvPr>
            <p:ph type="title"/>
          </p:nvPr>
        </p:nvSpPr>
        <p:spPr/>
        <p:txBody>
          <a:bodyPr/>
          <a:lstStyle/>
          <a:p>
            <a:r>
              <a:rPr lang="en-US" dirty="0"/>
              <a:t>Transient contractions (C4P)</a:t>
            </a:r>
          </a:p>
        </p:txBody>
      </p:sp>
      <p:sp>
        <p:nvSpPr>
          <p:cNvPr id="5" name="Text Placeholder 4">
            <a:extLst>
              <a:ext uri="{FF2B5EF4-FFF2-40B4-BE49-F238E27FC236}">
                <a16:creationId xmlns:a16="http://schemas.microsoft.com/office/drawing/2014/main" id="{3879C9DE-A46A-AA88-41BA-2B9B8190A14C}"/>
              </a:ext>
            </a:extLst>
          </p:cNvPr>
          <p:cNvSpPr>
            <a:spLocks noGrp="1"/>
          </p:cNvSpPr>
          <p:nvPr>
            <p:ph type="body" idx="1"/>
          </p:nvPr>
        </p:nvSpPr>
        <p:spPr/>
        <p:txBody>
          <a:bodyPr/>
          <a:lstStyle/>
          <a:p>
            <a:r>
              <a:rPr lang="en-US" dirty="0"/>
              <a:t>I apologize that the genotype colors are inconsistent across plots, I realized this as I was putting it together and I don’t have time to fix it tonight but I will get it fixed by whenever we next meet</a:t>
            </a:r>
          </a:p>
        </p:txBody>
      </p:sp>
    </p:spTree>
    <p:extLst>
      <p:ext uri="{BB962C8B-B14F-4D97-AF65-F5344CB8AC3E}">
        <p14:creationId xmlns:p14="http://schemas.microsoft.com/office/powerpoint/2010/main" val="288655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2CC107-9FFD-BBFB-A181-68528F936C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6021" y="132879"/>
            <a:ext cx="7959957" cy="6592242"/>
          </a:xfrm>
          <a:prstGeom prst="rect">
            <a:avLst/>
          </a:prstGeom>
        </p:spPr>
      </p:pic>
    </p:spTree>
    <p:extLst>
      <p:ext uri="{BB962C8B-B14F-4D97-AF65-F5344CB8AC3E}">
        <p14:creationId xmlns:p14="http://schemas.microsoft.com/office/powerpoint/2010/main" val="4208517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4F500660-B97C-7AFD-62DA-A418B27FF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3125" y="580104"/>
            <a:ext cx="7658370" cy="6342475"/>
          </a:xfrm>
          <a:prstGeom prst="rect">
            <a:avLst/>
          </a:prstGeom>
        </p:spPr>
      </p:pic>
      <p:sp>
        <p:nvSpPr>
          <p:cNvPr id="2" name="Title 1">
            <a:extLst>
              <a:ext uri="{FF2B5EF4-FFF2-40B4-BE49-F238E27FC236}">
                <a16:creationId xmlns:a16="http://schemas.microsoft.com/office/drawing/2014/main" id="{8CFE8FC2-74F4-9BB5-D225-735858BA7BC7}"/>
              </a:ext>
            </a:extLst>
          </p:cNvPr>
          <p:cNvSpPr>
            <a:spLocks noGrp="1"/>
          </p:cNvSpPr>
          <p:nvPr>
            <p:ph type="title"/>
          </p:nvPr>
        </p:nvSpPr>
        <p:spPr>
          <a:xfrm>
            <a:off x="149942" y="156572"/>
            <a:ext cx="6162368" cy="423532"/>
          </a:xfrm>
        </p:spPr>
        <p:txBody>
          <a:bodyPr>
            <a:normAutofit fontScale="90000"/>
          </a:bodyPr>
          <a:lstStyle/>
          <a:p>
            <a:r>
              <a:rPr lang="en-US" dirty="0"/>
              <a:t>LVNV, T, WT sirtalis</a:t>
            </a:r>
          </a:p>
        </p:txBody>
      </p:sp>
    </p:spTree>
    <p:extLst>
      <p:ext uri="{BB962C8B-B14F-4D97-AF65-F5344CB8AC3E}">
        <p14:creationId xmlns:p14="http://schemas.microsoft.com/office/powerpoint/2010/main" val="3596044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2DBBFDC0-9179-B2DE-3509-8AABFAFBB8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331" y="743132"/>
            <a:ext cx="7251338" cy="6005381"/>
          </a:xfrm>
          <a:prstGeom prst="rect">
            <a:avLst/>
          </a:prstGeom>
        </p:spPr>
      </p:pic>
      <p:sp>
        <p:nvSpPr>
          <p:cNvPr id="3" name="Title 2">
            <a:extLst>
              <a:ext uri="{FF2B5EF4-FFF2-40B4-BE49-F238E27FC236}">
                <a16:creationId xmlns:a16="http://schemas.microsoft.com/office/drawing/2014/main" id="{1B066AFE-3330-875C-2992-77ECA537184C}"/>
              </a:ext>
            </a:extLst>
          </p:cNvPr>
          <p:cNvSpPr>
            <a:spLocks noGrp="1"/>
          </p:cNvSpPr>
          <p:nvPr>
            <p:ph type="title"/>
          </p:nvPr>
        </p:nvSpPr>
        <p:spPr>
          <a:xfrm>
            <a:off x="130277" y="109487"/>
            <a:ext cx="9869129" cy="667262"/>
          </a:xfrm>
        </p:spPr>
        <p:txBody>
          <a:bodyPr>
            <a:normAutofit fontScale="90000"/>
          </a:bodyPr>
          <a:lstStyle/>
          <a:p>
            <a:r>
              <a:rPr lang="en-US" dirty="0"/>
              <a:t>EPN, LVNV, T, WT sirtalis</a:t>
            </a:r>
          </a:p>
        </p:txBody>
      </p:sp>
    </p:spTree>
    <p:extLst>
      <p:ext uri="{BB962C8B-B14F-4D97-AF65-F5344CB8AC3E}">
        <p14:creationId xmlns:p14="http://schemas.microsoft.com/office/powerpoint/2010/main" val="959217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BBD96AC-A510-4B21-1CAD-CD4AA3181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3570" y="597654"/>
            <a:ext cx="7644860" cy="6331286"/>
          </a:xfrm>
          <a:prstGeom prst="rect">
            <a:avLst/>
          </a:prstGeom>
        </p:spPr>
      </p:pic>
      <p:sp>
        <p:nvSpPr>
          <p:cNvPr id="2" name="Title 1">
            <a:extLst>
              <a:ext uri="{FF2B5EF4-FFF2-40B4-BE49-F238E27FC236}">
                <a16:creationId xmlns:a16="http://schemas.microsoft.com/office/drawing/2014/main" id="{9E1B3FD0-DCB1-7C76-EB70-5B896BA4D7A4}"/>
              </a:ext>
            </a:extLst>
          </p:cNvPr>
          <p:cNvSpPr>
            <a:spLocks noGrp="1"/>
          </p:cNvSpPr>
          <p:nvPr>
            <p:ph type="title"/>
          </p:nvPr>
        </p:nvSpPr>
        <p:spPr>
          <a:xfrm>
            <a:off x="159774" y="263357"/>
            <a:ext cx="9080230" cy="175649"/>
          </a:xfrm>
        </p:spPr>
        <p:txBody>
          <a:bodyPr>
            <a:normAutofit fontScale="90000"/>
          </a:bodyPr>
          <a:lstStyle/>
          <a:p>
            <a:r>
              <a:rPr lang="en-US" dirty="0"/>
              <a:t>T, LVNV, WT sirtalis, </a:t>
            </a:r>
            <a:r>
              <a:rPr lang="en-US" dirty="0" err="1"/>
              <a:t>hammondii</a:t>
            </a:r>
            <a:endParaRPr lang="en-US" dirty="0"/>
          </a:p>
        </p:txBody>
      </p:sp>
    </p:spTree>
    <p:extLst>
      <p:ext uri="{BB962C8B-B14F-4D97-AF65-F5344CB8AC3E}">
        <p14:creationId xmlns:p14="http://schemas.microsoft.com/office/powerpoint/2010/main" val="3843965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0FF2F85-7B1C-51EB-2A21-E2C82DD1D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1850" y="529312"/>
            <a:ext cx="7808299" cy="6466642"/>
          </a:xfrm>
          <a:prstGeom prst="rect">
            <a:avLst/>
          </a:prstGeom>
        </p:spPr>
      </p:pic>
      <p:pic>
        <p:nvPicPr>
          <p:cNvPr id="4" name="Picture 3">
            <a:extLst>
              <a:ext uri="{FF2B5EF4-FFF2-40B4-BE49-F238E27FC236}">
                <a16:creationId xmlns:a16="http://schemas.microsoft.com/office/drawing/2014/main" id="{B11CAAF9-DF87-20B5-B87E-C1F8AE1B399C}"/>
              </a:ext>
            </a:extLst>
          </p:cNvPr>
          <p:cNvPicPr>
            <a:picLocks noChangeAspect="1"/>
          </p:cNvPicPr>
          <p:nvPr/>
        </p:nvPicPr>
        <p:blipFill>
          <a:blip r:embed="rId4"/>
          <a:stretch>
            <a:fillRect/>
          </a:stretch>
        </p:blipFill>
        <p:spPr>
          <a:xfrm>
            <a:off x="-165093" y="-86075"/>
            <a:ext cx="9297206" cy="1072989"/>
          </a:xfrm>
          <a:prstGeom prst="rect">
            <a:avLst/>
          </a:prstGeom>
        </p:spPr>
      </p:pic>
    </p:spTree>
    <p:extLst>
      <p:ext uri="{BB962C8B-B14F-4D97-AF65-F5344CB8AC3E}">
        <p14:creationId xmlns:p14="http://schemas.microsoft.com/office/powerpoint/2010/main" val="692453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C431-0B2D-F717-177C-82C816DBD85C}"/>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DDA9756B-D13C-812E-6853-D59118182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0433" y="607972"/>
            <a:ext cx="7431134" cy="6154284"/>
          </a:xfrm>
          <a:prstGeom prst="rect">
            <a:avLst/>
          </a:prstGeom>
        </p:spPr>
      </p:pic>
      <p:pic>
        <p:nvPicPr>
          <p:cNvPr id="4" name="Picture 3">
            <a:extLst>
              <a:ext uri="{FF2B5EF4-FFF2-40B4-BE49-F238E27FC236}">
                <a16:creationId xmlns:a16="http://schemas.microsoft.com/office/drawing/2014/main" id="{F8C8B1A0-186F-EE74-100C-EF554AACFE7D}"/>
              </a:ext>
            </a:extLst>
          </p:cNvPr>
          <p:cNvPicPr>
            <a:picLocks noChangeAspect="1"/>
          </p:cNvPicPr>
          <p:nvPr/>
        </p:nvPicPr>
        <p:blipFill>
          <a:blip r:embed="rId4"/>
          <a:stretch>
            <a:fillRect/>
          </a:stretch>
        </p:blipFill>
        <p:spPr>
          <a:xfrm>
            <a:off x="-165093" y="-86075"/>
            <a:ext cx="9297206" cy="1072989"/>
          </a:xfrm>
          <a:prstGeom prst="rect">
            <a:avLst/>
          </a:prstGeom>
        </p:spPr>
      </p:pic>
    </p:spTree>
    <p:extLst>
      <p:ext uri="{BB962C8B-B14F-4D97-AF65-F5344CB8AC3E}">
        <p14:creationId xmlns:p14="http://schemas.microsoft.com/office/powerpoint/2010/main" val="2652747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1A31A-5A6F-BF60-1BB5-2700DFFFDC5E}"/>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A7915603-EB52-EB3B-A94B-E57DE649A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5805" y="851959"/>
            <a:ext cx="7140040" cy="5913207"/>
          </a:xfrm>
          <a:prstGeom prst="rect">
            <a:avLst/>
          </a:prstGeom>
        </p:spPr>
      </p:pic>
      <p:pic>
        <p:nvPicPr>
          <p:cNvPr id="4" name="Picture 3">
            <a:extLst>
              <a:ext uri="{FF2B5EF4-FFF2-40B4-BE49-F238E27FC236}">
                <a16:creationId xmlns:a16="http://schemas.microsoft.com/office/drawing/2014/main" id="{71A4CC39-D351-73FE-AABD-917BC2D4F2B5}"/>
              </a:ext>
            </a:extLst>
          </p:cNvPr>
          <p:cNvPicPr>
            <a:picLocks noChangeAspect="1"/>
          </p:cNvPicPr>
          <p:nvPr/>
        </p:nvPicPr>
        <p:blipFill>
          <a:blip r:embed="rId4"/>
          <a:stretch>
            <a:fillRect/>
          </a:stretch>
        </p:blipFill>
        <p:spPr>
          <a:xfrm>
            <a:off x="-165093" y="-86075"/>
            <a:ext cx="9297206" cy="1072989"/>
          </a:xfrm>
          <a:prstGeom prst="rect">
            <a:avLst/>
          </a:prstGeom>
        </p:spPr>
      </p:pic>
    </p:spTree>
    <p:extLst>
      <p:ext uri="{BB962C8B-B14F-4D97-AF65-F5344CB8AC3E}">
        <p14:creationId xmlns:p14="http://schemas.microsoft.com/office/powerpoint/2010/main" val="1751170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E7229-A7F7-248B-E6F8-BE83DB34ADB7}"/>
              </a:ext>
            </a:extLst>
          </p:cNvPr>
          <p:cNvSpPr>
            <a:spLocks noGrp="1"/>
          </p:cNvSpPr>
          <p:nvPr>
            <p:ph type="title"/>
          </p:nvPr>
        </p:nvSpPr>
        <p:spPr/>
        <p:txBody>
          <a:bodyPr/>
          <a:lstStyle/>
          <a:p>
            <a:r>
              <a:rPr lang="en-US" dirty="0"/>
              <a:t>Tetanic contractions (tetanus)</a:t>
            </a:r>
          </a:p>
        </p:txBody>
      </p:sp>
      <p:sp>
        <p:nvSpPr>
          <p:cNvPr id="3" name="Text Placeholder 2">
            <a:extLst>
              <a:ext uri="{FF2B5EF4-FFF2-40B4-BE49-F238E27FC236}">
                <a16:creationId xmlns:a16="http://schemas.microsoft.com/office/drawing/2014/main" id="{3A446006-E94C-5109-981F-0EE1E9215759}"/>
              </a:ext>
            </a:extLst>
          </p:cNvPr>
          <p:cNvSpPr>
            <a:spLocks noGrp="1"/>
          </p:cNvSpPr>
          <p:nvPr>
            <p:ph type="body" idx="1"/>
          </p:nvPr>
        </p:nvSpPr>
        <p:spPr/>
        <p:txBody>
          <a:bodyPr/>
          <a:lstStyle/>
          <a:p>
            <a:r>
              <a:rPr lang="en-US" dirty="0"/>
              <a:t>Same note about the colors, apologies that they’re all wonky again</a:t>
            </a:r>
          </a:p>
        </p:txBody>
      </p:sp>
    </p:spTree>
    <p:extLst>
      <p:ext uri="{BB962C8B-B14F-4D97-AF65-F5344CB8AC3E}">
        <p14:creationId xmlns:p14="http://schemas.microsoft.com/office/powerpoint/2010/main" val="1388248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D69B59F-D994-2285-6033-2FB458B34C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6667" y="239641"/>
            <a:ext cx="7702133" cy="6378718"/>
          </a:xfrm>
          <a:prstGeom prst="rect">
            <a:avLst/>
          </a:prstGeom>
        </p:spPr>
      </p:pic>
    </p:spTree>
    <p:extLst>
      <p:ext uri="{BB962C8B-B14F-4D97-AF65-F5344CB8AC3E}">
        <p14:creationId xmlns:p14="http://schemas.microsoft.com/office/powerpoint/2010/main" val="1887341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1D141-BF55-6CFA-D0D4-E2DF47FE6C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42240D-C979-78B2-8631-D9A15E3CC603}"/>
              </a:ext>
            </a:extLst>
          </p:cNvPr>
          <p:cNvSpPr>
            <a:spLocks noGrp="1"/>
          </p:cNvSpPr>
          <p:nvPr>
            <p:ph type="title"/>
          </p:nvPr>
        </p:nvSpPr>
        <p:spPr>
          <a:xfrm>
            <a:off x="159774" y="70158"/>
            <a:ext cx="10515600" cy="1325563"/>
          </a:xfrm>
        </p:spPr>
        <p:txBody>
          <a:bodyPr/>
          <a:lstStyle/>
          <a:p>
            <a:r>
              <a:rPr lang="en-US" dirty="0"/>
              <a:t>LVNV, T, and WT sirtalis</a:t>
            </a:r>
          </a:p>
        </p:txBody>
      </p:sp>
      <p:pic>
        <p:nvPicPr>
          <p:cNvPr id="16" name="Picture 15">
            <a:extLst>
              <a:ext uri="{FF2B5EF4-FFF2-40B4-BE49-F238E27FC236}">
                <a16:creationId xmlns:a16="http://schemas.microsoft.com/office/drawing/2014/main" id="{0FAC8C6F-5236-4C3D-4ADB-86FFAE71D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6533" y="1155851"/>
            <a:ext cx="6598933" cy="5465075"/>
          </a:xfrm>
          <a:prstGeom prst="rect">
            <a:avLst/>
          </a:prstGeom>
        </p:spPr>
      </p:pic>
    </p:spTree>
    <p:extLst>
      <p:ext uri="{BB962C8B-B14F-4D97-AF65-F5344CB8AC3E}">
        <p14:creationId xmlns:p14="http://schemas.microsoft.com/office/powerpoint/2010/main" val="701903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B1AFC-8B86-2BEB-43D5-CB26CC07E4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7A2538-AA41-71FA-61B6-FE951563DB19}"/>
              </a:ext>
            </a:extLst>
          </p:cNvPr>
          <p:cNvSpPr>
            <a:spLocks noGrp="1"/>
          </p:cNvSpPr>
          <p:nvPr>
            <p:ph type="title"/>
          </p:nvPr>
        </p:nvSpPr>
        <p:spPr>
          <a:xfrm>
            <a:off x="81116" y="0"/>
            <a:ext cx="10515600" cy="1325563"/>
          </a:xfrm>
        </p:spPr>
        <p:txBody>
          <a:bodyPr/>
          <a:lstStyle/>
          <a:p>
            <a:r>
              <a:rPr lang="en-US" dirty="0"/>
              <a:t>LVNV, EPN, T, and WT sirtalis</a:t>
            </a:r>
          </a:p>
        </p:txBody>
      </p:sp>
      <p:pic>
        <p:nvPicPr>
          <p:cNvPr id="6" name="Picture 5">
            <a:extLst>
              <a:ext uri="{FF2B5EF4-FFF2-40B4-BE49-F238E27FC236}">
                <a16:creationId xmlns:a16="http://schemas.microsoft.com/office/drawing/2014/main" id="{EC278E12-1BA9-99C0-B3E6-FDB4D1AF1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2718" y="1001263"/>
            <a:ext cx="6986564" cy="5786102"/>
          </a:xfrm>
          <a:prstGeom prst="rect">
            <a:avLst/>
          </a:prstGeom>
        </p:spPr>
      </p:pic>
    </p:spTree>
    <p:extLst>
      <p:ext uri="{BB962C8B-B14F-4D97-AF65-F5344CB8AC3E}">
        <p14:creationId xmlns:p14="http://schemas.microsoft.com/office/powerpoint/2010/main" val="2024328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FE163-3652-8D85-7226-16BF78E94D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3E5EC4-F47F-D7DB-6D35-53F8B9280C63}"/>
              </a:ext>
            </a:extLst>
          </p:cNvPr>
          <p:cNvSpPr>
            <a:spLocks noGrp="1"/>
          </p:cNvSpPr>
          <p:nvPr>
            <p:ph type="title"/>
          </p:nvPr>
        </p:nvSpPr>
        <p:spPr>
          <a:xfrm>
            <a:off x="90948" y="67362"/>
            <a:ext cx="10515600" cy="1325563"/>
          </a:xfrm>
        </p:spPr>
        <p:txBody>
          <a:bodyPr/>
          <a:lstStyle/>
          <a:p>
            <a:r>
              <a:rPr lang="en-US" dirty="0"/>
              <a:t>LVNV, WT sirtalis, T, and WT </a:t>
            </a:r>
            <a:r>
              <a:rPr lang="en-US" dirty="0" err="1"/>
              <a:t>hammondii</a:t>
            </a:r>
            <a:endParaRPr lang="en-US" dirty="0"/>
          </a:p>
        </p:txBody>
      </p:sp>
      <p:pic>
        <p:nvPicPr>
          <p:cNvPr id="14" name="Picture 13">
            <a:extLst>
              <a:ext uri="{FF2B5EF4-FFF2-40B4-BE49-F238E27FC236}">
                <a16:creationId xmlns:a16="http://schemas.microsoft.com/office/drawing/2014/main" id="{B7A2896C-40EB-5300-6D87-E0679A1C49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6533" y="1325563"/>
            <a:ext cx="6598933" cy="5465075"/>
          </a:xfrm>
          <a:prstGeom prst="rect">
            <a:avLst/>
          </a:prstGeom>
        </p:spPr>
      </p:pic>
    </p:spTree>
    <p:extLst>
      <p:ext uri="{BB962C8B-B14F-4D97-AF65-F5344CB8AC3E}">
        <p14:creationId xmlns:p14="http://schemas.microsoft.com/office/powerpoint/2010/main" val="2130636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F2E3-B7FE-BC9A-D078-26F4DE252C7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8A6683D-0A4C-6246-BAEE-57F47B38B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5422" y="1016982"/>
            <a:ext cx="7052874" cy="5841018"/>
          </a:xfrm>
          <a:prstGeom prst="rect">
            <a:avLst/>
          </a:prstGeom>
        </p:spPr>
      </p:pic>
      <p:sp>
        <p:nvSpPr>
          <p:cNvPr id="2" name="Title 3">
            <a:extLst>
              <a:ext uri="{FF2B5EF4-FFF2-40B4-BE49-F238E27FC236}">
                <a16:creationId xmlns:a16="http://schemas.microsoft.com/office/drawing/2014/main" id="{0F526DD4-1F02-90A2-21E1-F5ED9FF065F5}"/>
              </a:ext>
            </a:extLst>
          </p:cNvPr>
          <p:cNvSpPr txBox="1">
            <a:spLocks/>
          </p:cNvSpPr>
          <p:nvPr/>
        </p:nvSpPr>
        <p:spPr>
          <a:xfrm>
            <a:off x="90948" y="673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LVNV, WT sirtalis, T, and WT hammondii</a:t>
            </a:r>
            <a:endParaRPr lang="en-US" dirty="0"/>
          </a:p>
        </p:txBody>
      </p:sp>
    </p:spTree>
    <p:extLst>
      <p:ext uri="{BB962C8B-B14F-4D97-AF65-F5344CB8AC3E}">
        <p14:creationId xmlns:p14="http://schemas.microsoft.com/office/powerpoint/2010/main" val="2730062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0BEC3-72FD-0E53-909F-5F535746AA2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8DFD697-9042-586E-5236-022A5816D0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0391" y="1124280"/>
            <a:ext cx="6598933" cy="5465075"/>
          </a:xfrm>
          <a:prstGeom prst="rect">
            <a:avLst/>
          </a:prstGeom>
        </p:spPr>
      </p:pic>
      <p:sp>
        <p:nvSpPr>
          <p:cNvPr id="2" name="Title 3">
            <a:extLst>
              <a:ext uri="{FF2B5EF4-FFF2-40B4-BE49-F238E27FC236}">
                <a16:creationId xmlns:a16="http://schemas.microsoft.com/office/drawing/2014/main" id="{F513DE2B-F1AD-A55F-C524-CAAE9815B878}"/>
              </a:ext>
            </a:extLst>
          </p:cNvPr>
          <p:cNvSpPr txBox="1">
            <a:spLocks/>
          </p:cNvSpPr>
          <p:nvPr/>
        </p:nvSpPr>
        <p:spPr>
          <a:xfrm>
            <a:off x="90948" y="673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LVNV, WT sirtalis, T, and WT hammondii</a:t>
            </a:r>
            <a:endParaRPr lang="en-US" dirty="0"/>
          </a:p>
        </p:txBody>
      </p:sp>
    </p:spTree>
    <p:extLst>
      <p:ext uri="{BB962C8B-B14F-4D97-AF65-F5344CB8AC3E}">
        <p14:creationId xmlns:p14="http://schemas.microsoft.com/office/powerpoint/2010/main" val="4275669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43B44-34D3-19EA-DD84-E70773487328}"/>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84685CD-EDF6-07EE-727F-E35EC68EA9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2236" y="1116036"/>
            <a:ext cx="6598933" cy="5465075"/>
          </a:xfrm>
          <a:prstGeom prst="rect">
            <a:avLst/>
          </a:prstGeom>
        </p:spPr>
      </p:pic>
      <p:sp>
        <p:nvSpPr>
          <p:cNvPr id="2" name="Title 3">
            <a:extLst>
              <a:ext uri="{FF2B5EF4-FFF2-40B4-BE49-F238E27FC236}">
                <a16:creationId xmlns:a16="http://schemas.microsoft.com/office/drawing/2014/main" id="{A5044021-225C-787E-D993-31352B208DBF}"/>
              </a:ext>
            </a:extLst>
          </p:cNvPr>
          <p:cNvSpPr txBox="1">
            <a:spLocks/>
          </p:cNvSpPr>
          <p:nvPr/>
        </p:nvSpPr>
        <p:spPr>
          <a:xfrm>
            <a:off x="90948" y="673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LVNV, WT sirtalis, T, and WT hammondii</a:t>
            </a:r>
            <a:endParaRPr lang="en-US" dirty="0"/>
          </a:p>
        </p:txBody>
      </p:sp>
    </p:spTree>
    <p:extLst>
      <p:ext uri="{BB962C8B-B14F-4D97-AF65-F5344CB8AC3E}">
        <p14:creationId xmlns:p14="http://schemas.microsoft.com/office/powerpoint/2010/main" val="1172107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352018-A25E-B43D-5D53-3A06345616FE}"/>
              </a:ext>
            </a:extLst>
          </p:cNvPr>
          <p:cNvSpPr>
            <a:spLocks noGrp="1"/>
          </p:cNvSpPr>
          <p:nvPr>
            <p:ph type="title"/>
          </p:nvPr>
        </p:nvSpPr>
        <p:spPr/>
        <p:txBody>
          <a:bodyPr/>
          <a:lstStyle/>
          <a:p>
            <a:r>
              <a:rPr lang="en-US" dirty="0"/>
              <a:t>Rheobase protocol</a:t>
            </a:r>
          </a:p>
        </p:txBody>
      </p:sp>
      <p:sp>
        <p:nvSpPr>
          <p:cNvPr id="4" name="Text Placeholder 3">
            <a:extLst>
              <a:ext uri="{FF2B5EF4-FFF2-40B4-BE49-F238E27FC236}">
                <a16:creationId xmlns:a16="http://schemas.microsoft.com/office/drawing/2014/main" id="{B9F7088C-394E-DDDE-A7B3-3A0D1F4BD1B2}"/>
              </a:ext>
            </a:extLst>
          </p:cNvPr>
          <p:cNvSpPr>
            <a:spLocks noGrp="1"/>
          </p:cNvSpPr>
          <p:nvPr>
            <p:ph type="body" idx="1"/>
          </p:nvPr>
        </p:nvSpPr>
        <p:spPr/>
        <p:txBody>
          <a:bodyPr>
            <a:normAutofit fontScale="92500"/>
          </a:bodyPr>
          <a:lstStyle/>
          <a:p>
            <a:r>
              <a:rPr lang="en-US" dirty="0"/>
              <a:t>I did not get here because I was over-ambitious and also had to redo all the previous plots multiple times because of a series of silly errors but I will also have this before our next meeting (hopefully by the end of the week if you’re curious and want to see them sooner, we can probably meet via zoom while I’m gone if you want)</a:t>
            </a:r>
          </a:p>
        </p:txBody>
      </p:sp>
    </p:spTree>
    <p:extLst>
      <p:ext uri="{BB962C8B-B14F-4D97-AF65-F5344CB8AC3E}">
        <p14:creationId xmlns:p14="http://schemas.microsoft.com/office/powerpoint/2010/main" val="2411144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833</Words>
  <Application>Microsoft Office PowerPoint</Application>
  <PresentationFormat>Widescreen</PresentationFormat>
  <Paragraphs>44</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Draft plots for myography trade-off work</vt:lpstr>
      <vt:lpstr>Transient contractions (C4P)</vt:lpstr>
      <vt:lpstr>PowerPoint Presentation</vt:lpstr>
      <vt:lpstr>LVNV, T, WT sirtalis</vt:lpstr>
      <vt:lpstr>EPN, LVNV, T, WT sirtalis</vt:lpstr>
      <vt:lpstr>T, LVNV, WT sirtalis, hammondii</vt:lpstr>
      <vt:lpstr>PowerPoint Presentation</vt:lpstr>
      <vt:lpstr>PowerPoint Presentation</vt:lpstr>
      <vt:lpstr>PowerPoint Presentation</vt:lpstr>
      <vt:lpstr>Tetanic contractions (tetanus)</vt:lpstr>
      <vt:lpstr>PowerPoint Presentation</vt:lpstr>
      <vt:lpstr>LVNV, T, and WT sirtalis</vt:lpstr>
      <vt:lpstr>LVNV, EPN, T, and WT sirtalis</vt:lpstr>
      <vt:lpstr>LVNV, WT sirtalis, T, and WT hammondii</vt:lpstr>
      <vt:lpstr>PowerPoint Presentation</vt:lpstr>
      <vt:lpstr>PowerPoint Presentation</vt:lpstr>
      <vt:lpstr>PowerPoint Presentation</vt:lpstr>
      <vt:lpstr>Rheobase protocol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Sage Babish</dc:creator>
  <cp:lastModifiedBy>Sage Babish</cp:lastModifiedBy>
  <cp:revision>1</cp:revision>
  <dcterms:created xsi:type="dcterms:W3CDTF">2026-06-08T03:26:32Z</dcterms:created>
  <dcterms:modified xsi:type="dcterms:W3CDTF">2026-06-08T03:47:54Z</dcterms:modified>
</cp:coreProperties>
</file>